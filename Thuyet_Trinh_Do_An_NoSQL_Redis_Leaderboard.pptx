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oc Anh Tran Nguyen" userId="4cf5e121b6f87a4f" providerId="LiveId" clId="{4E481495-4BD1-4AAC-91D8-DFA950C938A2}"/>
    <pc:docChg chg="custSel modSld">
      <pc:chgData name="Quoc Anh Tran Nguyen" userId="4cf5e121b6f87a4f" providerId="LiveId" clId="{4E481495-4BD1-4AAC-91D8-DFA950C938A2}" dt="2026-10-25T01:52:16.087" v="8" actId="478"/>
      <pc:docMkLst>
        <pc:docMk/>
      </pc:docMkLst>
      <pc:sldChg chg="delSp modSp mod">
        <pc:chgData name="Quoc Anh Tran Nguyen" userId="4cf5e121b6f87a4f" providerId="LiveId" clId="{4E481495-4BD1-4AAC-91D8-DFA950C938A2}" dt="2026-10-25T01:52:16.087" v="8" actId="478"/>
        <pc:sldMkLst>
          <pc:docMk/>
          <pc:sldMk cId="0" sldId="256"/>
        </pc:sldMkLst>
        <pc:spChg chg="del">
          <ac:chgData name="Quoc Anh Tran Nguyen" userId="4cf5e121b6f87a4f" providerId="LiveId" clId="{4E481495-4BD1-4AAC-91D8-DFA950C938A2}" dt="2026-10-25T01:52:05.646" v="0" actId="478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Quoc Anh Tran Nguyen" userId="4cf5e121b6f87a4f" providerId="LiveId" clId="{4E481495-4BD1-4AAC-91D8-DFA950C938A2}" dt="2026-10-25T01:52:15.609" v="7"/>
          <ac:spMkLst>
            <pc:docMk/>
            <pc:sldMk cId="0" sldId="256"/>
            <ac:spMk id="6" creationId="{00000000-0000-0000-0000-000000000000}"/>
          </ac:spMkLst>
        </pc:spChg>
        <pc:spChg chg="del">
          <ac:chgData name="Quoc Anh Tran Nguyen" userId="4cf5e121b6f87a4f" providerId="LiveId" clId="{4E481495-4BD1-4AAC-91D8-DFA950C938A2}" dt="2026-10-25T01:52:16.087" v="8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Quoc Anh Tran Nguyen" userId="4cf5e121b6f87a4f" providerId="LiveId" clId="{4E481495-4BD1-4AAC-91D8-DFA950C938A2}" dt="2026-10-25T01:52:15.609" v="5" actId="478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BÁO CÁO ĐỒ ÁN MÔN HỌC NOSQL</a:t>
            </a:r>
          </a:p>
          <a:p>
            <a:pPr>
              <a:spcBef>
                <a:spcPts val="1200"/>
              </a:spcBef>
              <a:defRPr sz="3200" b="1">
                <a:solidFill>
                  <a:srgbClr val="F8FAFC"/>
                </a:solidFill>
                <a:latin typeface="Segoe UI"/>
              </a:defRPr>
            </a:pPr>
            <a:r>
              <a:t>HỆ THỐNG BẢNG XẾP HẠNG THỜI GIAN THỰC</a:t>
            </a:r>
            <a:br/>
            <a:r>
              <a:t>(REAL-TIME LEADERBOARD)</a:t>
            </a:r>
          </a:p>
          <a:p>
            <a:pPr>
              <a:spcBef>
                <a:spcPts val="800"/>
              </a:spcBef>
              <a:defRPr sz="1600">
                <a:solidFill>
                  <a:srgbClr val="F59E0B"/>
                </a:solidFill>
                <a:latin typeface="Segoe UI"/>
              </a:defRPr>
            </a:pPr>
            <a:r>
              <a:t>Ứng dụng Cơ sở dữ liệu In-Memory Redis, Kiến trúc Skip List &amp; WebSocket Socket.IO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Bối Cảnh &amp; Đặt Vấn Đề: Tại Sao Bảng Xếp Hạng Lại Khó?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🎮 Trò Chơi Trực Tuyến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Gaming &amp; Esports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Hàng chục ngàn người chơi cùng kết thúc trận đấu và nộp điểm trong cùng một giây.</a:t>
            </a:r>
            <a:br/>
            <a:br/>
            <a:r>
              <a:t>• Người chơi yêu cầu thứ hạng phải nhảy ngay tức khắc trên màn hình để duy trì tính cạnh tranh gay cấn.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🛍️ Thương Mại Điện Tử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Flash Sale &amp; Livestream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4688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Shopee, TikTok Shop: Bảng xếp hạng Top người mua hàng nhiều nhất theo từng giờ.</a:t>
            </a:r>
            <a:br/>
            <a:br/>
            <a:r>
              <a:t>• Khách hàng nạp đơn liên tục, yêu cầu hệ thống tính toán tức thì để phát voucher thưởng nóng.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⚡ Thách Thức Kỹ Thuật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Real-Time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• Dữ liệu thay đổi liên tục từng mili-giây (High Write Throughput).</a:t>
            </a:r>
            <a:br/>
            <a:br/>
            <a:r>
              <a:t>• Số lượng người dùng từ 10.000 đến hàng triệu.</a:t>
            </a:r>
            <a:br/>
            <a:br/>
            <a:r>
              <a:t>• Đòi hỏi độ trễ cực thấp: Sub-millisecond (&lt; 1 mili-giây).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Tại Sao CSDL Quan Hệ (SQL) Thất Bại Với Bài Toán Này?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❌ Truy Vấn SQL Kinh Điển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SELECT ... ORDER BY ...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7171"/>
                </a:solidFill>
                <a:latin typeface="Consolas"/>
              </a:defRPr>
            </a:pPr>
            <a:r>
              <a:t>SELECT user_id, score, </a:t>
            </a:r>
            <a:br/>
            <a:r>
              <a:t>       RANK() OVER (ORDER BY score DESC)</a:t>
            </a:r>
            <a:br/>
            <a:r>
              <a:t>FROM players </a:t>
            </a:r>
            <a:br/>
            <a:r>
              <a:t>ORDER BY score DESC </a:t>
            </a:r>
            <a:br/>
            <a:r>
              <a:t>LIMIT 10;</a:t>
            </a:r>
            <a:br/>
            <a:br/>
            <a:r>
              <a:t>⚠️ Khi có 100.000 người chơi:</a:t>
            </a:r>
            <a:br/>
            <a:r>
              <a:t>• Phép tính ORDER BY quét toàn bộ bảng (Table Scan).</a:t>
            </a:r>
            <a:br/>
            <a:r>
              <a:t>• Độ phức tạp O(N log N) hoặc O(N).</a:t>
            </a:r>
            <a:br/>
            <a:r>
              <a:t>• Tốn 150ms - 500ms cho MỖI lượt tra cứu!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💥 3 'Điểm Chết' Của SQL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Bản chất kiến trúc lưu trữ đĩa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1. Nghẽn cổ chai I/O đĩa cứng (Disk I/O Bottleneck):</a:t>
            </a:r>
            <a:br/>
            <a:r>
              <a:t>   SQL lưu dữ liệu trên HDD/SSD. Tốc độ đọc/ghi đĩa chậm hơn RAM hàng ngàn lần.</a:t>
            </a:r>
            <a:br/>
            <a:br/>
            <a:r>
              <a:t>2. Xung đột Khóa (Lock Contention):</a:t>
            </a:r>
            <a:br/>
            <a:r>
              <a:t>   Hàng ngàn lệnh UPDATE điểm đồng thời gây khóa dòng/khóa bảng (Row/Table Lock), dẫn đến treo máy chủ.</a:t>
            </a:r>
            <a:br/>
            <a:br/>
            <a:r>
              <a:t>3. Chi phí Re-indexing B-Tree:</a:t>
            </a:r>
            <a:br/>
            <a:r>
              <a:t>   Mỗi lần điểm số thay đổi, cây chỉ mục B-Tree phải tái cân bằng, làm tê liệt CPU.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Giải Pháp NoSQL Với Redis: Giao Diện Dashboard Trực Quan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⚡ Ưu Thế Của Redis In-Memory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Sub-millisecond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• 100% In-Memory RAM: Tốc độ &lt; 0.1ms, nhanh hơn đĩa cứng 100.000 lần.</a:t>
            </a:r>
            <a:br/>
            <a:br/>
            <a:r>
              <a:t>• Single-Threaded Event Loop: Xử lý hơn 100.000 lệnh/giây không lo race-condition.</a:t>
            </a:r>
            <a:br/>
            <a:br/>
            <a:r>
              <a:t>• Thao tác nguyên khối Atomic (ZINCRBY).</a:t>
            </a:r>
            <a:br/>
            <a:br/>
            <a:r>
              <a:t>• Cập nhật tức thời: Bục Top 3 Podium và bảng xếp hạng nhảy vị trí ngay trên màn hình.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2976" y="1591056"/>
            <a:ext cx="5961888" cy="4590288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inh_1_tong_qu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8521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Cấu Trúc Sorted Set &amp; Trực Quan Hóa Giải Thuật Skip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🧩 Kết Hợp Hash Table &amp; Skip List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Bản chất thuật toán O(log 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1. Hash Table: Tra cứu điểm người chơi O(1).</a:t>
            </a:r>
            <a:br/>
            <a:br/>
            <a:r>
              <a:t>2. Skip List (Danh Sách Nhảy Đa Tầng):</a:t>
            </a:r>
            <a:br/>
            <a:r>
              <a:t>   • Tầng 4 (Express Lane): Nhảy qua các bước 10.000 phần tử.</a:t>
            </a:r>
            <a:br/>
            <a:r>
              <a:t>   • Tầng 1: Chứa toàn bộ 100.000 phần tử.</a:t>
            </a:r>
            <a:br/>
            <a:br/>
            <a:r>
              <a:t>👉 Tìm thứ tự #5.339:</a:t>
            </a:r>
            <a:br/>
            <a:r>
              <a:t>   • SQL duyệt 5,339 bước tuần tự</a:t>
            </a:r>
            <a:br/>
            <a:r>
              <a:t>   • Redis chỉ mất ~14 bước nhảy!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2976" y="1591056"/>
            <a:ext cx="5961888" cy="4590288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inh_4_skiplist_visual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8521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Thiết Kế Schema Cơ Sở Dữ Liệu NoSQL Trên Redis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Cấu Trúc NoSQL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Tên Key Pattern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Dữ Liệu Lưu Trữ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Lệnh Chính Thao Tác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Sorted Set (ZSET)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leaderboard:global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Member: userId, Score: points (Toàn thời gian)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ZADD, ZINCRBY, ZREVRANGE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Sorted Set (ZSET)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leaderboard:daily:YYYY-MM-DD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Bảng xếp hạng ngày, tự reset mỗi đêm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ZINCRBY, EXPIRE (TTL 48h)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Hash (HSET)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user:{userId}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Hồ sơ: name, avatar, country, score, title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HSET, HGETALL, HINCRBY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String (SET EX)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session:{token}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Phiên đăng nhập người dùng (Session Token)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SET ... EX 86400, GET, DEL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Kiến Trúc Hệ Thống Tổng Thể (System Architecture)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Presentation Layer (Khách hàng)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Web Desktop (Cyberpunk UI) &amp; Mobile Clicker Game qua mã QR mạng 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89864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2. Gateway &amp; Transport Layer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Giao thức WebSocket (Socket.IO) Full-Duplex truyền nhận 2 chiều tức thì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04164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Segoe UI"/>
              </a:defRPr>
            </a:pPr>
            <a:r>
              <a:t>3. Application Server (Node.js &amp; Express)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Xử lý REST API, kiểm tra Session Token, phát sóng Event thời gian thực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18464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4. In-Memory NoSQL Database (Redis 8.x)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Quản lý ZSET Skip List, Hash hồ sơ, bộ nhớ đệm RAM tốc độ &lt; 0.1ms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Luồng Xử Lý Ghi Điểm &amp; Phát Sóng Thời Gian Thực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Bước 1: Submit Điểm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783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Người chơi nộp điểm trên Web hoặc bấm TAP trên Điện thoại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645920"/>
            <a:ext cx="2057400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36391" y="182880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Bước 2: Xác Thực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1" y="2468880"/>
            <a:ext cx="1783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Server kiểm tra Token trong Redis RAM GET session:{token} mất 0.05ms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45920"/>
            <a:ext cx="2057400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12664" y="182880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Bước 3: Atomic ZINCRBY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1224" y="2468880"/>
            <a:ext cx="1783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Redis tăng điểm và tự động đảo vị trí trong Skip List ngay lập tức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645920"/>
            <a:ext cx="2057400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88936" y="182880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Bước 4: Socket Broadcast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496" y="2468880"/>
            <a:ext cx="1783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Server lấy Top 10 mới và phát sóng sự kiện tới toàn bộ 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645920"/>
            <a:ext cx="2057400" cy="438912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65208" y="182880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Bước 5: Flash Highlight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2468880"/>
            <a:ext cx="1783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Hàng của người chơi trên bảng chớp sáng xanh Neon nhảy hạng tức thì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Quản Lý Đăng Nhập Với Redis Session Store (TTL 24h)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🔑 Mô Hình Session Phân Tán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Cách các tập đoàn lớn (Shopee, Netflix) xác thực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• Cấp phát Token ngẫu nhiên: session:tk_{uuid} -&gt; userId.</a:t>
            </a:r>
            <a:br/>
            <a:br/>
            <a:r>
              <a:t>• TTL 24 giờ (86400s): Redis tự động xóa session hết hạn.</a:t>
            </a:r>
            <a:br/>
            <a:br/>
            <a:r>
              <a:t>• Xác thực siêu tốc: Chỉ tốn 0.05ms trên RAM.</a:t>
            </a:r>
            <a:br/>
            <a:br/>
            <a:r>
              <a:t>• Lưới chọn Avatar chiến binh và 1-Click Demo Accounts (quocbao/123, sontung/123, faker/123).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2976" y="1591056"/>
            <a:ext cx="5961888" cy="4590288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inh_2_auth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8521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Thử Nghiệm Tải Lớn: 100.000 Bản Ghi (Redis vs SQL)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Thao Tác Thử Nghiệm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SQL (MySQL / Postgres)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Redis NoSQL (In-Memory)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Kết Quả Đo Đạc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Lấy danh sách Top 10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120 - 350 ms (Nghẽn đĩa)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0.12 ms (Sub-millisecond)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Redis nhanh gấp 1.000 lần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Cộng điểm &amp; Đảo thứ hạng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80 - 200 ms (Lock dòng)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0.08 ms (ZINCRBY)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Redis nhanh gấp 1.200 lần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Tra cứu hạng người bất kỳ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150 - 500 ms (Quét bảng)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0.05 ms (ZREVRANK)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Redis nhanh gấp 3.000 lần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Dung lượng RAM 100k records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~ 150 MB buffer cache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Chỉ ~ 20 MB (Siêu nén)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Tiết kiệm 85% tài nguyên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Kỹ Thuật Nâng Cao 1: Giải Quyết Hòa Điểm (Tie-Breaking)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⚖️ Công Thức Fractional Timestamp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Ai nộp trước được xếp trên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Score = Điểm + (1 - (Timestamp / 10^14))</a:t>
            </a:r>
            <a:br/>
            <a:br/>
            <a:r>
              <a:t>• Người nộp trước có Timestamp nhỏ hơn -&gt; Phần bù thập phân lớn hơn -&gt; Đứng trên.</a:t>
            </a:r>
            <a:br/>
            <a:br/>
            <a:r>
              <a:t>• Không cần truy vấn phức tạp hay ORDER BY created_at phụ trong SQL.</a:t>
            </a:r>
            <a:br/>
            <a:br/>
            <a:r>
              <a:t>• Thử nghiệm thực tế 2 người cùng 5.000 điểm phân định chính xác trong 0.05ms.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2976" y="1591056"/>
            <a:ext cx="5961888" cy="4590288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inh_5_tie_brea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8521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Kỹ Thuật Nâng Cao 2: Bảng Xếp Hạng Bang Hội (ZUNIONSTORE)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🤝 Tổng Điểm Bang Hội Tức Thì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Phép toán nguyên khối trong 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Lệnh Redis ZUNIONSTORE:</a:t>
            </a:r>
            <a:br/>
            <a:r>
              <a:t>ZUNIONSTORE guild:leaderboard 3 \</a:t>
            </a:r>
            <a:br/>
            <a:r>
              <a:t>   guild:dragon guild:tiger guild:phoenix \</a:t>
            </a:r>
            <a:br/>
            <a:r>
              <a:t>   AGGREGATE SUM</a:t>
            </a:r>
            <a:br/>
            <a:br/>
            <a:r>
              <a:t>• Thay thế hoàn toàn các phép JOIN và GROUP BY nặng nề của SQL.</a:t>
            </a:r>
            <a:br/>
            <a:br/>
            <a:r>
              <a:t>• Thực hiện tính tổng trực tiếp trong RAM trong 1 mili-giây!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2976" y="1591056"/>
            <a:ext cx="5961888" cy="4590288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inh_6_guilds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8521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Lưu Trữ Bền Vững (Redis Persistence): RDB Snapshotting &amp; AOF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💾 Cơ Chế Bảo Vệ Dữ Liệu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Mất điện không mất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1. RDB (Snapshotting):</a:t>
            </a:r>
            <a:br/>
            <a:r>
              <a:t>   • Lệnh BGSAVE tạo tiến trình con ghi file dump.rdb xuống ổ cứng không chặn luồng chính.</a:t>
            </a:r>
            <a:br/>
            <a:br/>
            <a:r>
              <a:t>2. AOF (Append-Only File):</a:t>
            </a:r>
            <a:br/>
            <a:r>
              <a:t>   • Ghi nhật ký mọi lệnh ghi vào appendonly.aof mỗi giây.</a:t>
            </a:r>
            <a:br/>
            <a:br/>
            <a:r>
              <a:t>👉 Khởi động lại máy chủ phục hồi 100.000 bản ghi trong vài giây.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2976" y="1591056"/>
            <a:ext cx="5961888" cy="4590288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inh_7_persistenc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8521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Trải Nghiệm Đa Nền Tảng: Mobile Live Tapper &amp; DB Explorer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4805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📱 Mobile Live Tapper &amp; QR Code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Quét QR chơi game trên điện thoại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• Tự động tạo mã QR chứa địa chỉ IP mạng nội bộ (LAN).</a:t>
            </a:r>
            <a:br/>
            <a:br/>
            <a:r>
              <a:t>• Mở camera điện thoại quét để chơi mini-game ngay trên trình duyệt di động.</a:t>
            </a:r>
            <a:br/>
            <a:br/>
            <a:r>
              <a:t>• Bấm nút TAP liên tục: Điểm truyền qua WebSocket làm nhảy bảng xếp hạng trên máy tính tức thì!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0096" y="1591056"/>
            <a:ext cx="2304288" cy="4590288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inh_9_mobile_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219456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08976" y="1591056"/>
            <a:ext cx="3767328" cy="4590288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hinh_3_database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45920"/>
            <a:ext cx="36576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ĐỒ ÁN MÔN HỌC: CƠ SỞ DỮ LIỆU NOSQL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Tổng Kết Đồ Án &amp; Lời Cảm 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310896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🏆 Các Kết Quả Xuất Sắc Đạt Được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8FAFC"/>
                </a:solidFill>
              </a:defRPr>
            </a:pPr>
            <a:r>
              <a:t>✅ Ứng dụng thành công cấu trúc NoSQL Sorted Set (ZSET) &amp; Skip List giải quyết triệt để bài toán Leaderboard.</a:t>
            </a:r>
            <a:br/>
            <a:br/>
            <a:r>
              <a:t>✅ Đạt thông lượng cực lớn với thời gian phản hồi Sub-millisecond (&lt; 0.2ms trên 100.000 bản ghi).</a:t>
            </a:r>
            <a:br/>
            <a:br/>
            <a:r>
              <a:t>✅ Xây dựng hệ thống hoàn chỉnh: Redis Session Store (TTL 24h), Tie-Breaking, Guilds ZUNIONSTORE, và Mobile Live Tapper.</a:t>
            </a:r>
            <a:br/>
            <a:br/>
            <a:r>
              <a:t>✅ Giao diện Cyberpunk Glassmorphism hiện đại, trực quan, hỗ trợ giảng viên kiểm tra Database trực tiếp.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01830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0749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CẢM ƠN THẦY CÔ VÀ CÁC BẠN ĐÃ LẮNG NGHE!</a:t>
            </a:r>
          </a:p>
          <a:p>
            <a:pPr algn="ctr">
              <a:spcBef>
                <a:spcPts val="4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Xin mời Thầy Cô và Hội đồng đặt câu hỏi phản biện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1856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quoca</cp:lastModifiedBy>
  <cp:revision>1</cp:revision>
  <dcterms:created xsi:type="dcterms:W3CDTF">2013-01-27T09:14:16Z</dcterms:created>
  <dcterms:modified xsi:type="dcterms:W3CDTF">2026-10-25T01:52:24Z</dcterms:modified>
  <cp:category/>
</cp:coreProperties>
</file>